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Hiring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B9-450E-8B5F-77AF04E37CA6}"/>
              </c:ext>
            </c:extLst>
          </c:dPt>
          <c:dPt>
            <c:idx val="1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B9-450E-8B5F-77AF04E37CA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B9-450E-8B5F-77AF04E37CA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B9-450E-8B5F-77AF04E37CA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Actively Hiring</c:v>
                </c:pt>
                <c:pt idx="1">
                  <c:v>Not Hiring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B9-450E-8B5F-77AF04E37C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Startups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33-4AC8-A845-DB35B69926B8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33-4AC8-A845-DB35B69926B8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33-4AC8-A845-DB35B69926B8}"/>
              </c:ext>
            </c:extLst>
          </c:dPt>
          <c:dPt>
            <c:idx val="3"/>
            <c:invertIfNegative val="0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33-4AC8-A845-DB35B69926B8}"/>
              </c:ext>
            </c:extLst>
          </c:dPt>
          <c:dPt>
            <c:idx val="4"/>
            <c:invertIfNegative val="0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233-4AC8-A845-DB35B69926B8}"/>
              </c:ext>
            </c:extLst>
          </c:dPt>
          <c:dPt>
            <c:idx val="5"/>
            <c:invertIfNegative val="0"/>
            <c:bubble3D val="0"/>
            <c:spPr>
              <a:solidFill>
                <a:srgbClr val="7B3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233-4AC8-A845-DB35B69926B8}"/>
              </c:ext>
            </c:extLst>
          </c:dPt>
          <c:dPt>
            <c:idx val="6"/>
            <c:invertIfNegative val="0"/>
            <c:bubble3D val="0"/>
            <c:spPr>
              <a:solidFill>
                <a:srgbClr val="7B3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233-4AC8-A845-DB35B69926B8}"/>
              </c:ext>
            </c:extLst>
          </c:dPt>
          <c:dPt>
            <c:idx val="7"/>
            <c:invertIfNegative val="0"/>
            <c:bubble3D val="0"/>
            <c:spPr>
              <a:solidFill>
                <a:srgbClr val="7B3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233-4AC8-A845-DB35B69926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 Francisco</c:v>
                </c:pt>
                <c:pt idx="1">
                  <c:v>New York</c:v>
                </c:pt>
                <c:pt idx="2">
                  <c:v>London</c:v>
                </c:pt>
                <c:pt idx="3">
                  <c:v>Bengaluru</c:v>
                </c:pt>
                <c:pt idx="4">
                  <c:v>Seattle</c:v>
                </c:pt>
                <c:pt idx="5">
                  <c:v>Austin</c:v>
                </c:pt>
                <c:pt idx="6">
                  <c:v>Toronto</c:v>
                </c:pt>
                <c:pt idx="7">
                  <c:v>Berlin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210</c:v>
                </c:pt>
                <c:pt idx="1">
                  <c:v>145</c:v>
                </c:pt>
                <c:pt idx="2">
                  <c:v>89</c:v>
                </c:pt>
                <c:pt idx="3">
                  <c:v>72</c:v>
                </c:pt>
                <c:pt idx="4">
                  <c:v>54</c:v>
                </c:pt>
                <c:pt idx="5">
                  <c:v>41</c:v>
                </c:pt>
                <c:pt idx="6">
                  <c:v>33</c:v>
                </c:pt>
                <c:pt idx="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233-4AC8-A845-DB35B69926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Startups</c:v>
                </c:pt>
              </c:strCache>
            </c:strRef>
          </c:tx>
          <c:spPr>
            <a:solidFill>
              <a:srgbClr val="9C6D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78-4F77-AC21-B1939CB7DE51}"/>
              </c:ext>
            </c:extLst>
          </c:dPt>
          <c:dPt>
            <c:idx val="1"/>
            <c:invertIfNegative val="0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78-4F77-AC21-B1939CB7DE51}"/>
              </c:ext>
            </c:extLst>
          </c:dPt>
          <c:dPt>
            <c:idx val="2"/>
            <c:invertIfNegative val="0"/>
            <c:bubble3D val="0"/>
            <c:spPr>
              <a:solidFill>
                <a:srgbClr val="1A5C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78-4F77-AC21-B1939CB7DE51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78-4F77-AC21-B1939CB7DE51}"/>
              </c:ext>
            </c:extLst>
          </c:dPt>
          <c:dPt>
            <c:idx val="4"/>
            <c:invertIfNegative val="0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78-4F77-AC21-B1939CB7DE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Micro
(1–5)</c:v>
                </c:pt>
                <c:pt idx="1">
                  <c:v>Small
(6–15)</c:v>
                </c:pt>
                <c:pt idx="2">
                  <c:v>Medium
(16–50)</c:v>
                </c:pt>
                <c:pt idx="3">
                  <c:v>Large
(51–200)</c:v>
                </c:pt>
                <c:pt idx="4">
                  <c:v>Enterprise
(200+)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</c:v>
                </c:pt>
                <c:pt idx="1">
                  <c:v>210</c:v>
                </c:pt>
                <c:pt idx="2">
                  <c:v>175</c:v>
                </c:pt>
                <c:pt idx="3">
                  <c:v>88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D78-4F77-AC21-B1939CB7DE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9CA3AF"/>
                </a:solidFill>
                <a:latin typeface="Arial"/>
              </a:rPr>
              <a:t>Hiring Demand Growth Trend (2018–2024)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Positions</c:v>
                </c:pt>
              </c:strCache>
            </c:strRef>
          </c:tx>
          <c:spPr>
            <a:ln w="38100" cap="flat">
              <a:solidFill>
                <a:srgbClr val="4CAF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CAF50"/>
              </a:solidFill>
              <a:ln w="9525" cap="flat">
                <a:solidFill>
                  <a:srgbClr val="4CAF5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</c:v>
                </c:pt>
                <c:pt idx="1">
                  <c:v>1050</c:v>
                </c:pt>
                <c:pt idx="2">
                  <c:v>780</c:v>
                </c:pt>
                <c:pt idx="3">
                  <c:v>1320</c:v>
                </c:pt>
                <c:pt idx="4">
                  <c:v>2100</c:v>
                </c:pt>
                <c:pt idx="5">
                  <c:v>3450</c:v>
                </c:pt>
                <c:pt idx="6">
                  <c:v>4820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AAF-4BE1-A75C-07C8E584B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1D5D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Founder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9B-444B-919B-7385A48067C6}"/>
              </c:ext>
            </c:extLst>
          </c:dPt>
          <c:dPt>
            <c:idx val="1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9B-444B-919B-7385A48067C6}"/>
              </c:ext>
            </c:extLst>
          </c:dPt>
          <c:dPt>
            <c:idx val="2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9B-444B-919B-7385A48067C6}"/>
              </c:ext>
            </c:extLst>
          </c:dPt>
          <c:dPt>
            <c:idx val="3"/>
            <c:bubble3D val="0"/>
            <c:spPr>
              <a:solidFill>
                <a:srgbClr val="7B3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9B-444B-919B-7385A48067C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9B-444B-919B-7385A48067C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9B-444B-919B-7385A48067C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9B-444B-919B-7385A48067C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9B-444B-919B-7385A48067C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Solo Founder</c:v>
                </c:pt>
                <c:pt idx="1">
                  <c:v>2 Co-founders</c:v>
                </c:pt>
                <c:pt idx="2">
                  <c:v>3 Co-founders</c:v>
                </c:pt>
                <c:pt idx="3">
                  <c:v>4+ Founders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44</c:v>
                </c:pt>
                <c:pt idx="2">
                  <c:v>20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9B-444B-919B-7385A48067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82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063A4-2EC9-C178-B6D5-CF375400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76732-68DA-98D7-A8FD-25F5A6DAF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1BAAA-68F6-2308-7C9C-18AA67AF4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E68CB-A48A-35D4-0C05-5232E4EA8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84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5C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164592" cy="5143500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182880"/>
            <a:ext cx="914400" cy="914400"/>
          </a:xfrm>
          <a:prstGeom prst="ellipse">
            <a:avLst/>
          </a:prstGeom>
          <a:solidFill>
            <a:srgbClr val="2E8B57">
              <a:alpha val="40000"/>
            </a:srgbClr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0" y="3840480"/>
            <a:ext cx="1280160" cy="1280160"/>
          </a:xfrm>
          <a:prstGeom prst="ellipse">
            <a:avLst/>
          </a:prstGeom>
          <a:solidFill>
            <a:srgbClr val="5B2D8E">
              <a:alpha val="30000"/>
            </a:srgbClr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>
                    <a:alpha val="60000"/>
                  </a:srgbClr>
                </a:solidFill>
              </a:rPr>
              <a:t>HR ANALYTICS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CAF50">
                    <a:alpha val="80000"/>
                  </a:srgbClr>
                </a:solidFill>
              </a:rPr>
              <a:t>INTERNSHIP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2560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4CAF50"/>
                </a:solidFill>
              </a:rPr>
              <a:t>ZETHETA ALGORITHMS PRIVATE LIMITED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9144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Compensation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Benchmarking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46120" y="24871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C6DC5"/>
                </a:solidFill>
              </a:rPr>
              <a:t>Human Resources Analyst Internship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2944368"/>
            <a:ext cx="4572000" cy="457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46120" y="31272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</a:rPr>
              <a:t>Organization: </a:t>
            </a:r>
            <a:r>
              <a:rPr lang="en-US" sz="1200" dirty="0">
                <a:solidFill>
                  <a:srgbClr val="FFFFFF"/>
                </a:solidFill>
              </a:rPr>
              <a:t>Zetheta Algorithms Private Limited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3456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</a:rPr>
              <a:t>Duration: </a:t>
            </a:r>
            <a:r>
              <a:rPr lang="en-US" sz="1200" dirty="0">
                <a:solidFill>
                  <a:srgbClr val="FFFFFF"/>
                </a:solidFill>
              </a:rPr>
              <a:t>15 Days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37764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</a:rPr>
              <a:t>Role: </a:t>
            </a:r>
            <a:r>
              <a:rPr lang="en-US" sz="1200" dirty="0">
                <a:solidFill>
                  <a:srgbClr val="FFFFFF"/>
                </a:solidFill>
              </a:rPr>
              <a:t>Human Resources Analyst Intern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Project 4 of 4 | HR Analytics Series</a:t>
            </a:r>
            <a:endParaRPr lang="en-US" sz="1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31B37C2-48F2-0A0A-CCB1-09E8837226BC}"/>
              </a:ext>
            </a:extLst>
          </p:cNvPr>
          <p:cNvSpPr/>
          <p:nvPr/>
        </p:nvSpPr>
        <p:spPr>
          <a:xfrm>
            <a:off x="3230880" y="4081272"/>
            <a:ext cx="566928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A3AF"/>
                </a:solidFill>
              </a:rPr>
              <a:t>Name: </a:t>
            </a:r>
            <a:r>
              <a:rPr lang="en-US" sz="1400" dirty="0">
                <a:solidFill>
                  <a:srgbClr val="FFFFFF"/>
                </a:solidFill>
              </a:rPr>
              <a:t>Roshitha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</a:rPr>
              <a:t>MAY-2026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Internship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120640" cy="3383280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</a:rPr>
              <a:t>Role &amp; Responsibilities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As an HR Analyst Intern at Zetheta Algorithms Private Limited, the role involved exposure to real-world HR analytics workflows, data-driven decision making, and startup ecosystem research.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responsibilities included: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Analyzing startup compensation datasets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Performing data cleaning &amp; transformation in Excel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Building pivot tables &amp; visual dashboards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Drawing actionable HR insights from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4 HR Analytics Projects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609344"/>
            <a:ext cx="3246120" cy="71323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1500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36208" y="1682496"/>
            <a:ext cx="36576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0" y="16824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HR Analyst for Banks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414016"/>
            <a:ext cx="3246120" cy="71323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15000" y="24505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36208" y="2487168"/>
            <a:ext cx="36576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24871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HR Analyst for Insurance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218688"/>
            <a:ext cx="3246120" cy="713232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15000" y="32552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6208" y="3291840"/>
            <a:ext cx="36576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HR Analyst in Mutual Funds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4023360"/>
            <a:ext cx="3246120" cy="71323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15000" y="40599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36208" y="4096512"/>
            <a:ext cx="36576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40965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Founder Compensation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Benchmarking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1F2937"/>
          </a:solidFill>
          <a:ln w="1905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09728" cy="10972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</a:rPr>
              <a:t>🎯  Primary 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To benchmark founder compensation across early-stage startups by analyzing team sizes, hiring patterns, geographic presence, and funding status — providing actionable HR intelligence.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1F2937"/>
          </a:solidFill>
          <a:ln w="1905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09728" cy="1097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6DC5"/>
                </a:solidFill>
              </a:rPr>
              <a:t>📊  Compensation Analysis in Startups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Startups face unique compensation challenges. Understanding how founders structure pay relative to team growth helps HR professionals design equitable compensation frameworks.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1F2937"/>
          </a:solidFill>
          <a:ln w="1905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109728" cy="10972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</a:rPr>
              <a:t>🔍  HR Analytics Perspective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0507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This project applies data-driven HR techniques to real startup data, identifying patterns in workforce growth, open positions, and leadership structures critical for talent strategy.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00" cy="3474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About the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Source: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YC / Startup Ecosystem Database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Scope: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Multi-year startup cohort data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Format: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Excel (.xlsx) spreadsheet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Size: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500+ startup records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Purpose: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HR &amp; compensation benchmarking analysis across startup stages, geographies and team structures.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5196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DC5"/>
                </a:solidFill>
              </a:rPr>
              <a:t>Key Dataset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572768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0" y="1609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DC5"/>
                </a:solidFill>
              </a:rPr>
              <a:t>company_name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8013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Startup identifier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2084832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97680" y="21214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batch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3134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YC funding batch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2596896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97680" y="26334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DC5"/>
                </a:solidFill>
              </a:rPr>
              <a:t>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8254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Active / Inactive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3108960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97680" y="31455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tags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337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Industry/domain tags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3621024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97680" y="36576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DC5"/>
                </a:solidFill>
              </a:rPr>
              <a:t>company_location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384962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City &amp; country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4133088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97680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year_founded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43616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Founding year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1572768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66560" y="1609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DC5"/>
                </a:solidFill>
              </a:rPr>
              <a:t>team_size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8013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Headcount size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2084832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766560" y="21214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founders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3134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Founder names/count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2596896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766560" y="26334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DC5"/>
                </a:solidFill>
              </a:rPr>
              <a:t>is_hiring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8254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Hiring status (Y/N)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3108960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766560" y="31455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number_of_open_jobs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3337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Open positions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3621024"/>
            <a:ext cx="233172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766560" y="36576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DC5"/>
                </a:solidFill>
              </a:rPr>
              <a:t>primary_partner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384962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Key YC partner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68680" cy="6858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Handle Missing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447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Identified all blank and null cells across columns. Used Excel's Go To Special → Blanks function to locate gaps efficiently.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86868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865376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9293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DC5"/>
                </a:solidFill>
              </a:rPr>
              <a:t>Replace Blanks with 'Unknown'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2128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Replaced all missing text values with 'Unknown' using Find &amp; Replace to maintain dataset completeness and consistency.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868680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63347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697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Remove Unnecessary Columns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9809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Dropped irrelevant columns not needed for HR analysis (e.g., social media links, raw URLs) to streamline the dataset.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868680" cy="685800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40156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465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DC5"/>
                </a:solidFill>
              </a:rPr>
              <a:t>Standardize Data Formats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7490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Ensured consistent formatting: text case normalization, date formats standardized, numeric fields verified as numbers.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169664"/>
            <a:ext cx="841248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4169664"/>
            <a:ext cx="868680" cy="6858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41696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42336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Organize Clean Dataset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5171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Sorted and filtered the final clean dataset in Excel, applied table formatting and froze header rows for easy navigation.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011680" cy="8229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 Excel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CAF50"/>
                </a:solidFill>
              </a:rPr>
              <a:t>Primary Analysis Tool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Data entry &amp; storage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VLOOKUP, IF, COUNTIF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Cell formatting &amp; styles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Named ranges &amp;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143000"/>
            <a:ext cx="201168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468880" y="1143000"/>
            <a:ext cx="2011680" cy="8229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1170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Pivot Tables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6DC5"/>
                </a:solidFill>
              </a:rPr>
              <a:t>Data Aggregation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Dynamic data summarization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Cross-tab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Group &amp; filter views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Calculated fields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143000"/>
            <a:ext cx="201168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17720" y="1143000"/>
            <a:ext cx="2011680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1170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90872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Charts &amp; Visualization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90872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CAF50"/>
                </a:solidFill>
              </a:rPr>
              <a:t>Data Presentation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Bar, pie, line charts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Conditional formatting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Sparklines &amp; mini charts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Dashboard design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143000"/>
            <a:ext cx="2011680" cy="3520440"/>
          </a:xfrm>
          <a:prstGeom prst="rect">
            <a:avLst/>
          </a:prstGeom>
          <a:solidFill>
            <a:srgbClr val="1F2937"/>
          </a:solidFill>
          <a:ln w="1905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766560" y="1143000"/>
            <a:ext cx="2011680" cy="822960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766560" y="1170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39712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HR Analytics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39712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6DC5"/>
                </a:solidFill>
              </a:rPr>
              <a:t>Domain Application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Compensation benchmarking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Workforce trend analysis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Hiring demand metrics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Startup ecosystem study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vs Non-Hiring Startups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097280"/>
            <a:ext cx="3749040" cy="14173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0" y="11430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62%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Startups Actively Hiring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CAF50"/>
                </a:solidFill>
              </a:rPr>
              <a:t>↑ Strong growth signal in talent demand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697480"/>
            <a:ext cx="3749040" cy="1417320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0" y="27432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38%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502920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Startups Not Actively Hiring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6DC5"/>
                </a:solidFill>
              </a:rPr>
              <a:t>Consolidation or stealth phase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Location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097280"/>
            <a:ext cx="2926080" cy="749808"/>
          </a:xfrm>
          <a:prstGeom prst="rect">
            <a:avLst/>
          </a:prstGeom>
          <a:solidFill>
            <a:srgbClr val="1F2937"/>
          </a:solidFill>
          <a:ln w="1524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897880" y="1097280"/>
            <a:ext cx="91440" cy="7498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08076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🇺🇸 San Francisco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210 startups  |  Top Hub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956816"/>
            <a:ext cx="2926080" cy="749808"/>
          </a:xfrm>
          <a:prstGeom prst="rect">
            <a:avLst/>
          </a:prstGeom>
          <a:solidFill>
            <a:srgbClr val="1F2937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97880" y="1956816"/>
            <a:ext cx="91440" cy="7498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807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🇺🇸 New York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145 startups  |  2nd Place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97880" y="2816352"/>
            <a:ext cx="2926080" cy="749808"/>
          </a:xfrm>
          <a:prstGeom prst="rect">
            <a:avLst/>
          </a:prstGeom>
          <a:solidFill>
            <a:srgbClr val="1F2937"/>
          </a:solidFill>
          <a:ln w="1524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897880" y="2816352"/>
            <a:ext cx="91440" cy="7498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80760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🇬🇧 London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89 startups  |  EU Leader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97880" y="3675888"/>
            <a:ext cx="2926080" cy="749808"/>
          </a:xfrm>
          <a:prstGeom prst="rect">
            <a:avLst/>
          </a:prstGeom>
          <a:solidFill>
            <a:srgbClr val="1F2937"/>
          </a:solidFill>
          <a:ln w="1524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897880" y="3675888"/>
            <a:ext cx="91440" cy="749808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🇮🇳 Bengaluru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8076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72 startups  |  Asia Hub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Size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115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1572768"/>
            <a:ext cx="297180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989320" y="1627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Dominant Segment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847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C6DC5"/>
                </a:solidFill>
              </a:rPr>
              <a:t>Small (6-15)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0482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42% of all startups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2395728"/>
            <a:ext cx="297180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89320" y="2450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Fastest Growing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670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50"/>
                </a:solidFill>
              </a:rPr>
              <a:t>Medium Sized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28712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Strong hiring pipeline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3218688"/>
            <a:ext cx="297180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989320" y="32735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Avg Team Size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C6DC5"/>
                </a:solidFill>
              </a:rPr>
              <a:t>23 members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36941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Across all startups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52160" y="4041648"/>
            <a:ext cx="297180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89320" y="4096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Micro Startups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50"/>
                </a:solidFill>
              </a:rPr>
              <a:t>22.4%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5171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Lean founding teams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Jobs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97480" cy="12344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4,820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Open Positions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Across all hiring startups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078992"/>
            <a:ext cx="2697480" cy="12344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18688" y="11155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7.8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10128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Jobs Per Startup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2011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Among actively hiring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1616" y="1078992"/>
            <a:ext cx="2697480" cy="1234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71616" y="11155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63056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Roles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3056" y="2011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Largest job category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450592"/>
          <a:ext cx="84124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4206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115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Leadership Observations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572768"/>
            <a:ext cx="397764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846320" y="1572768"/>
            <a:ext cx="91440" cy="6949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83480" y="1627632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6DC5"/>
                </a:solidFill>
              </a:rPr>
              <a:t>44%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715000" y="1664208"/>
            <a:ext cx="36576" cy="512064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33872" y="162763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Co-founders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33872" y="190195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Most common leadership structure — balances skill sets and risk sharing.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46320" y="2377440"/>
            <a:ext cx="397764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846320" y="2377440"/>
            <a:ext cx="91440" cy="69494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83480" y="2432304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</a:rPr>
              <a:t>28%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715000" y="2468880"/>
            <a:ext cx="36576" cy="512064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33872" y="243230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Solo Founders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33872" y="270662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Independent vision-driven startups with single decision-maker.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46320" y="3182112"/>
            <a:ext cx="397764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846320" y="3182112"/>
            <a:ext cx="91440" cy="6949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983480" y="3236976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</a:rPr>
              <a:t>20%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715000" y="3273552"/>
            <a:ext cx="36576" cy="512064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33872" y="323697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Co-founders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33872" y="3511296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Strong technical + business + operations split.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46320" y="3986784"/>
            <a:ext cx="397764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846320" y="3986784"/>
            <a:ext cx="91440" cy="694944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983480" y="4041648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6DC5"/>
                </a:solidFill>
              </a:rPr>
              <a:t>8%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5715000" y="4078224"/>
            <a:ext cx="36576" cy="512064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833872" y="404164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4+ Founders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833872" y="431596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Complex governance; seen in deep-tech ventures.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13EF0-8505-126E-7CFF-F8D05082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5AAD6-EDCF-BFB4-36D2-41E5A23370C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968B6A-DE68-BEAE-9D60-E2F0162F5D54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ADFAD6-5917-40B5-35A3-FB342655F313}"/>
              </a:ext>
            </a:extLst>
          </p:cNvPr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Dashboard Overview — Excel Structure</a:t>
            </a: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DA25CBC0-9A50-9833-E781-823F567066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3584008"/>
              </p:ext>
            </p:extLst>
          </p:nvPr>
        </p:nvGraphicFramePr>
        <p:xfrm>
          <a:off x="175260" y="1146048"/>
          <a:ext cx="4206240" cy="2414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DE283777-99F1-A2BB-2E07-5B32DC0680BF}"/>
              </a:ext>
            </a:extLst>
          </p:cNvPr>
          <p:cNvSpPr/>
          <p:nvPr/>
        </p:nvSpPr>
        <p:spPr>
          <a:xfrm>
            <a:off x="4846320" y="1115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</a:rPr>
              <a:t>Workbook Sheets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1AFA741-F925-8192-D511-B30008B4AC2D}"/>
              </a:ext>
            </a:extLst>
          </p:cNvPr>
          <p:cNvSpPr/>
          <p:nvPr/>
        </p:nvSpPr>
        <p:spPr>
          <a:xfrm>
            <a:off x="4846320" y="1572768"/>
            <a:ext cx="3977640" cy="2249424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0FBC06D-123E-09D2-7548-AC13896E0DF5}"/>
              </a:ext>
            </a:extLst>
          </p:cNvPr>
          <p:cNvSpPr/>
          <p:nvPr/>
        </p:nvSpPr>
        <p:spPr>
          <a:xfrm>
            <a:off x="4846320" y="1572768"/>
            <a:ext cx="91440" cy="6949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62D7F79-6D5C-1892-A832-315D49DF5660}"/>
              </a:ext>
            </a:extLst>
          </p:cNvPr>
          <p:cNvSpPr/>
          <p:nvPr/>
        </p:nvSpPr>
        <p:spPr>
          <a:xfrm>
            <a:off x="4975859" y="1664208"/>
            <a:ext cx="45719" cy="1833372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BBB470B-7CAB-F718-6B5D-29180E48A893}"/>
              </a:ext>
            </a:extLst>
          </p:cNvPr>
          <p:cNvSpPr/>
          <p:nvPr/>
        </p:nvSpPr>
        <p:spPr>
          <a:xfrm>
            <a:off x="5067299" y="1664208"/>
            <a:ext cx="3619501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</a:rPr>
              <a:t>Raw_Data2525 rows</a:t>
            </a:r>
          </a:p>
          <a:p>
            <a:pPr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</a:rPr>
              <a:t>PT1_LocationBar Chart</a:t>
            </a:r>
          </a:p>
          <a:p>
            <a:pPr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</a:rPr>
              <a:t>PT2_TeamSizeColumn Chart</a:t>
            </a:r>
          </a:p>
          <a:p>
            <a:pPr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</a:rPr>
              <a:t>PT3_HiringDonut Chart</a:t>
            </a:r>
          </a:p>
          <a:p>
            <a:pPr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1400" b="1" dirty="0" err="1">
                <a:solidFill>
                  <a:schemeClr val="bg1"/>
                </a:solidFill>
                <a:latin typeface="Segoe UI" panose="020B0502040204020203" pitchFamily="34" charset="0"/>
              </a:rPr>
              <a:t>DashboardSummary</a:t>
            </a: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</a:rPr>
              <a:t> View</a:t>
            </a:r>
          </a:p>
          <a:p>
            <a:pPr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IN" sz="1400" b="1" dirty="0" err="1">
                <a:solidFill>
                  <a:schemeClr val="bg1"/>
                </a:solidFill>
                <a:latin typeface="Segoe UI" panose="020B0502040204020203" pitchFamily="34" charset="0"/>
              </a:rPr>
              <a:t>Lookup_TablesReference</a:t>
            </a:r>
            <a:endParaRPr lang="en-IN" sz="14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481DD3C-BA19-57AC-A073-249F1357EC74}"/>
              </a:ext>
            </a:extLst>
          </p:cNvPr>
          <p:cNvSpPr/>
          <p:nvPr/>
        </p:nvSpPr>
        <p:spPr>
          <a:xfrm>
            <a:off x="4846320" y="3986784"/>
            <a:ext cx="3977640" cy="694944"/>
          </a:xfrm>
          <a:prstGeom prst="rect">
            <a:avLst/>
          </a:prstGeom>
          <a:solidFill>
            <a:srgbClr val="1F2937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1E31599-9BB8-81EF-6598-9D91861AD1E0}"/>
              </a:ext>
            </a:extLst>
          </p:cNvPr>
          <p:cNvSpPr/>
          <p:nvPr/>
        </p:nvSpPr>
        <p:spPr>
          <a:xfrm>
            <a:off x="175260" y="3986784"/>
            <a:ext cx="4762500" cy="694944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37B29A6-17D2-1B5D-CBE4-39E906C9D33B}"/>
              </a:ext>
            </a:extLst>
          </p:cNvPr>
          <p:cNvSpPr/>
          <p:nvPr/>
        </p:nvSpPr>
        <p:spPr>
          <a:xfrm>
            <a:off x="4960620" y="4101084"/>
            <a:ext cx="36576" cy="512064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833B1EFF-19F7-8E23-86D4-2379918009A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F4EBF12-07E1-FB6D-D599-7EF4938BDFE6}"/>
              </a:ext>
            </a:extLst>
          </p:cNvPr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67DF82B-5CE1-20FF-A129-237A4535B7F8}"/>
              </a:ext>
            </a:extLst>
          </p:cNvPr>
          <p:cNvSpPr/>
          <p:nvPr/>
        </p:nvSpPr>
        <p:spPr>
          <a:xfrm>
            <a:off x="5067299" y="4050792"/>
            <a:ext cx="361950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>
                <a:solidFill>
                  <a:schemeClr val="bg1"/>
                </a:solidFill>
                <a:latin typeface="Segoe UI" panose="020B0502040204020203" pitchFamily="34" charset="0"/>
              </a:rPr>
              <a:t>Interactive Dashboard Preview</a:t>
            </a:r>
            <a:br>
              <a:rPr lang="en-IN" sz="1200" b="1" dirty="0">
                <a:solidFill>
                  <a:schemeClr val="bg1"/>
                </a:solidFill>
                <a:latin typeface="Segoe UI" panose="020B0502040204020203" pitchFamily="34" charset="0"/>
              </a:rPr>
            </a:br>
            <a:r>
              <a:rPr lang="en-IN" sz="1200" b="1" dirty="0">
                <a:solidFill>
                  <a:schemeClr val="bg1"/>
                </a:solidFill>
                <a:latin typeface="Segoe UI" panose="020B0502040204020203" pitchFamily="34" charset="0"/>
              </a:rPr>
              <a:t>(Placeholder)</a:t>
            </a:r>
          </a:p>
          <a:p>
            <a:pPr marL="0" indent="0">
              <a:buNone/>
            </a:pP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145445B-C368-5D49-0A8D-0E1440506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67" y="1194816"/>
            <a:ext cx="3968026" cy="227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8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20624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91440" cy="11430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📍  Geographic Concentration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Over 55% of analyzed startups are concentrated in San Francisco and New York, reflecting Silicon Valley's dominance in startup ecosystems.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20624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91440" cy="11430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01768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DC5"/>
                </a:solidFill>
              </a:rPr>
              <a:t>👥  Team Size &amp; Compensation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01768" y="151790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Startups with 6–50 employees show the highest hiring activity, suggesting mid-stage growth is the peak compensation demand phase.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20624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91440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🚀  Hiring Surge Post-2020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 2.6× increase in open positions was recorded from 2020 to 2023, largely driven by tech &amp; SaaS sectors post-pandemic.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420624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00600" y="2377440"/>
            <a:ext cx="91440" cy="1143000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01768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DC5"/>
                </a:solidFill>
              </a:rPr>
              <a:t>🧑‍💼  Co-founder Dominance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27797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72% of startups have 2–3 co-founders, with dual-founder structures being the most popular model, optimizing for complementary skill sets.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20624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91440" cy="11430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💼  Recruitment Observations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0416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Actively hiring startups post 3× more open positions and show significantly higher team growth rates over 12-month periods.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639312"/>
            <a:ext cx="420624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00600" y="3639312"/>
            <a:ext cx="91440" cy="11430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01768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DC5"/>
                </a:solidFill>
              </a:rPr>
              <a:t>📊  Data Quality Insight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01768" y="40416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Approximately 18% of records had missing location or team size data, highlighting the need for standardized startup data collection.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841248"/>
          </a:xfrm>
          <a:prstGeom prst="rect">
            <a:avLst/>
          </a:prstGeom>
          <a:solidFill>
            <a:srgbClr val="1F2937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005840" cy="84124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DC5"/>
                </a:solidFill>
              </a:rPr>
              <a:t>Data Cleaning Issues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5179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The raw dataset contained inconsistent formatting, mixed data types in columns, and non-standard location names that required manual intervention beyond automated cleaning.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78040" y="1353312"/>
            <a:ext cx="13716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78040" y="1353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Impact: High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8412480" cy="841248"/>
          </a:xfrm>
          <a:prstGeom prst="rect">
            <a:avLst/>
          </a:prstGeom>
          <a:solidFill>
            <a:srgbClr val="1F2937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1005840" cy="84124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06654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2157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Handling Missing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Over 18% of rows had one or more missing fields. Deciding between deletion, imputation, and placeholder replacement required careful judgment to preserve analytical integrity.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2304288"/>
            <a:ext cx="13716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7804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Impact: 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1F2937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1005840" cy="841248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DC5"/>
                </a:solidFill>
              </a:rPr>
              <a:t>Large Dataset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4198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Excel performance degraded with 500+ rows and multiple pivot tables. Managing file size and computation load required optimization strategies like disabling automatic calculation.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3255264"/>
            <a:ext cx="1371600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17804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Impact: Medium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68496"/>
            <a:ext cx="8412480" cy="841248"/>
          </a:xfrm>
          <a:prstGeom prst="rect">
            <a:avLst/>
          </a:prstGeom>
          <a:solidFill>
            <a:srgbClr val="1F293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968496"/>
            <a:ext cx="1005840" cy="8412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396849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087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Pivot Table Challenges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08760" y="4370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Creating dynamic pivot tables with correct groupings for team sizes and batch years required iterative testing. Refresh errors and cached data issues added to complexity.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4206240"/>
            <a:ext cx="1371600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78040" y="4206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Impact: Medium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206240" cy="1691640"/>
          </a:xfrm>
          <a:prstGeom prst="rect">
            <a:avLst/>
          </a:prstGeom>
          <a:solidFill>
            <a:srgbClr val="1F2937"/>
          </a:solidFill>
          <a:ln w="1524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06240" cy="5029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Excel Proficiency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00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</a:rPr>
              <a:t>✓  Advanced formulas: VLOOKUP, COUNTIF, IF-ELSE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9568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Pivot table creation &amp; multi-level grouping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2128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Data validation, filtering &amp; named ranges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4688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Chart creation &amp; dashboard layout design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115568"/>
            <a:ext cx="4206240" cy="1691640"/>
          </a:xfrm>
          <a:prstGeom prst="rect">
            <a:avLst/>
          </a:prstGeom>
          <a:solidFill>
            <a:srgbClr val="1F2937"/>
          </a:solidFill>
          <a:ln w="1524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00600" y="1115568"/>
            <a:ext cx="420624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207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HR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1700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</a:rPr>
              <a:t>✓  Compensation benchmarking methodology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5192" y="19568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Workforce planning data interpretation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65192" y="22128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Talent pipeline identification techniques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5192" y="24688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Startup lifecycle HR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4206240" cy="1691640"/>
          </a:xfrm>
          <a:prstGeom prst="rect">
            <a:avLst/>
          </a:prstGeom>
          <a:solidFill>
            <a:srgbClr val="1F2937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4206240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0358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Data Visualization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35295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</a:rPr>
              <a:t>✓  Chart selection for different data types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37856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Color-coded conditional formatting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0416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Building professional visual summaries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2976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Translating data into executive insights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944368"/>
            <a:ext cx="4206240" cy="1691640"/>
          </a:xfrm>
          <a:prstGeom prst="rect">
            <a:avLst/>
          </a:prstGeom>
          <a:solidFill>
            <a:srgbClr val="1F2937"/>
          </a:solidFill>
          <a:ln w="1524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00600" y="2944368"/>
            <a:ext cx="4206240" cy="502920"/>
          </a:xfrm>
          <a:prstGeom prst="rect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30358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💼  Business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35295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</a:rPr>
              <a:t>✓  Startup ecosystem landscape understanding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65192" y="37856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Identifying market hiring signals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65192" y="40416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Interpreting compensation vs growth trends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65192" y="42976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Structuring HR reports for stakeholders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Zetheta Algorithms Pvt Ltd | HR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164592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2E8B57">
              <a:alpha val="30000"/>
            </a:srgbClr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0" y="3474720"/>
            <a:ext cx="2011680" cy="2011680"/>
          </a:xfrm>
          <a:prstGeom prst="ellipse">
            <a:avLst/>
          </a:prstGeom>
          <a:solidFill>
            <a:srgbClr val="5B2D8E">
              <a:alpha val="30000"/>
            </a:srgbClr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🏆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871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3493008"/>
            <a:ext cx="2377440" cy="45720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>
                    <a:alpha val="75000"/>
                  </a:srgbClr>
                </a:solidFill>
              </a:rPr>
              <a:t>15-Day HR Analyst Internship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457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06240" y="11704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AF50"/>
                </a:solidFill>
              </a:rPr>
              <a:t>Zetheta Algorithms Private Limited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1591056"/>
            <a:ext cx="3657600" cy="3657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062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✅  Completed 4 HR Analytics projects in 15 days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22037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✅  Analyzed 500+ startup records for compensation insights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0" y="2624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✅  Delivered actionable HR findings using Excel &amp; pivot tables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0" y="3044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✅  Gained hands-on experience in startup HR analytics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0" y="34655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✅  Developed data visualization &amp; business analysis skills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06240" y="3913632"/>
            <a:ext cx="4572000" cy="8229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0" y="3977640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"Data is the new HR — and this internship proved it."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Human Resources Analyst Intern  |  Zetheta Algorithms Pvt Ltd  |  15 Days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1403</Words>
  <Application>Microsoft Office PowerPoint</Application>
  <PresentationFormat>On-screen Show (16:9)</PresentationFormat>
  <Paragraphs>283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Segoe UI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Compensation Benchmarking</dc:title>
  <dc:subject>PptxGenJS Presentation</dc:subject>
  <dc:creator>Zetheta Algorithms Pvt Ltd</dc:creator>
  <cp:lastModifiedBy>rose !</cp:lastModifiedBy>
  <cp:revision>2</cp:revision>
  <dcterms:created xsi:type="dcterms:W3CDTF">2026-05-14T14:17:40Z</dcterms:created>
  <dcterms:modified xsi:type="dcterms:W3CDTF">2026-05-14T14:32:34Z</dcterms:modified>
</cp:coreProperties>
</file>